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AI-Skilled</c:v>
                </c:pt>
              </c:strCache>
            </c:strRef>
          </c:tx>
          <c:spPr>
            <a:solidFill>
              <a:srgbClr val="06D6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  <c:pt idx="4">
                    <c:v>2027*</c:v>
                  </c:pt>
                  <c:pt idx="5">
                    <c:v>2028*</c:v>
                  </c:pt>
                  <c:pt idx="6">
                    <c:v>2029*</c:v>
                  </c:pt>
                  <c:pt idx="7">
                    <c:v>2030*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95</c:v>
                </c:pt>
                <c:pt idx="1">
                  <c:v>112</c:v>
                </c:pt>
                <c:pt idx="2">
                  <c:v>135</c:v>
                </c:pt>
                <c:pt idx="3">
                  <c:v>160</c:v>
                </c:pt>
                <c:pt idx="4">
                  <c:v>182</c:v>
                </c:pt>
                <c:pt idx="5">
                  <c:v>198</c:v>
                </c:pt>
                <c:pt idx="6">
                  <c:v>210</c:v>
                </c:pt>
                <c:pt idx="7">
                  <c:v>225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Non-AI</c:v>
                </c:pt>
              </c:strCache>
            </c:strRef>
          </c:tx>
          <c:spPr>
            <a:solidFill>
              <a:srgbClr val="EF476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  <c:pt idx="4">
                    <c:v>2027*</c:v>
                  </c:pt>
                  <c:pt idx="5">
                    <c:v>2028*</c:v>
                  </c:pt>
                  <c:pt idx="6">
                    <c:v>2029*</c:v>
                  </c:pt>
                  <c:pt idx="7">
                    <c:v>2030*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62</c:v>
                </c:pt>
                <c:pt idx="1">
                  <c:v>64</c:v>
                </c:pt>
                <c:pt idx="2">
                  <c:v>65.5</c:v>
                </c:pt>
                <c:pt idx="3">
                  <c:v>67</c:v>
                </c:pt>
                <c:pt idx="4">
                  <c:v>68</c:v>
                </c:pt>
                <c:pt idx="5">
                  <c:v>69</c:v>
                </c:pt>
                <c:pt idx="6">
                  <c:v>69.5</c:v>
                </c:pt>
                <c:pt idx="7">
                  <c:v>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A0E1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Pay Gap ($K)</c:v>
                </c:pt>
              </c:strCache>
            </c:strRef>
          </c:tx>
          <c:spPr>
            <a:solidFill>
              <a:srgbClr val="EF476F"/>
            </a:solidFill>
            <a:ln w="38100" cap="flat">
              <a:solidFill>
                <a:srgbClr val="EF476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476F"/>
              </a:solidFill>
              <a:ln w="9525" cap="flat">
                <a:solidFill>
                  <a:srgbClr val="EF476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  <c:pt idx="4">
                    <c:v>2027*</c:v>
                  </c:pt>
                  <c:pt idx="5">
                    <c:v>2028*</c:v>
                  </c:pt>
                  <c:pt idx="6">
                    <c:v>2029*</c:v>
                  </c:pt>
                  <c:pt idx="7">
                    <c:v>2030*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</c:v>
                </c:pt>
                <c:pt idx="1">
                  <c:v>48</c:v>
                </c:pt>
                <c:pt idx="2">
                  <c:v>69.5</c:v>
                </c:pt>
                <c:pt idx="3">
                  <c:v>93</c:v>
                </c:pt>
                <c:pt idx="4">
                  <c:v>114</c:v>
                </c:pt>
                <c:pt idx="5">
                  <c:v>129</c:v>
                </c:pt>
                <c:pt idx="6">
                  <c:v>140.5</c:v>
                </c:pt>
                <c:pt idx="7">
                  <c:v>155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Growth Rate %</c:v>
                </c:pt>
              </c:strCache>
            </c:strRef>
          </c:tx>
          <c:spPr>
            <a:solidFill>
              <a:srgbClr val="8338E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2E8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338E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476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D16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A86F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6D6A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18AB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F006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B5607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AI &amp; ML</c:v>
                  </c:pt>
                  <c:pt idx="1">
                    <c:v>Cybersecurity</c:v>
                  </c:pt>
                  <c:pt idx="2">
                    <c:v>Clean Energy</c:v>
                  </c:pt>
                  <c:pt idx="3">
                    <c:v>Data Centers</c:v>
                  </c:pt>
                  <c:pt idx="4">
                    <c:v>Healthcare</c:v>
                  </c:pt>
                  <c:pt idx="5">
                    <c:v>Prof Services</c:v>
                  </c:pt>
                  <c:pt idx="6">
                    <c:v>Education</c:v>
                  </c:pt>
                  <c:pt idx="7">
                    <c:v>Construction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</c:v>
                </c:pt>
                <c:pt idx="1">
                  <c:v>28</c:v>
                </c:pt>
                <c:pt idx="2">
                  <c:v>12.5</c:v>
                </c:pt>
                <c:pt idx="3">
                  <c:v>15</c:v>
                </c:pt>
                <c:pt idx="4">
                  <c:v>8.4</c:v>
                </c:pt>
                <c:pt idx="5">
                  <c:v>7.2</c:v>
                </c:pt>
                <c:pt idx="6">
                  <c:v>5.1</c:v>
                </c:pt>
                <c:pt idx="7">
                  <c:v>4.2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E2E8F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A0E17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AI Adoption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D6A0"/>
              </a:solidFill>
              <a:effectLst/>
            </c:spPr>
          </c:dPt>
          <c:dPt>
            <c:idx val="1"/>
            <c:bubble3D val="0"/>
            <c:spPr>
              <a:solidFill>
                <a:srgbClr val="118AB2"/>
              </a:solidFill>
              <a:effectLst/>
            </c:spPr>
          </c:dPt>
          <c:dPt>
            <c:idx val="2"/>
            <c:bubble3D val="0"/>
            <c:spPr>
              <a:solidFill>
                <a:srgbClr val="FFD166"/>
              </a:solidFill>
              <a:effectLst/>
            </c:spPr>
          </c:dPt>
          <c:dPt>
            <c:idx val="3"/>
            <c:bubble3D val="0"/>
            <c:spPr>
              <a:solidFill>
                <a:srgbClr val="EF476F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Using AI daily</c:v>
                </c:pt>
                <c:pt idx="1">
                  <c:v>Aware, not using</c:v>
                </c:pt>
                <c:pt idx="2">
                  <c:v>Upskilling in AI</c:v>
                </c:pt>
                <c:pt idx="3">
                  <c:v>No AI exposure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25</c:v>
                </c:pt>
                <c:pt idx="1">
                  <c:v>35</c:v>
                </c:pt>
                <c:pt idx="2">
                  <c:v>18</c:v>
                </c:pt>
                <c:pt idx="3">
                  <c:v>22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A0E1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DATA · MARCH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Workforce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Intelligence Dashboard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 · AI Adoption · Pay Gap · Industry Growth · Career Intelligence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206240"/>
            <a:ext cx="3657600" cy="274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343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Davon Ransom · S.T.A.R. Culture, LLC · Columbus, OH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LABOR MARKET RIGHT NOW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February 2026 Snapshot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920240" cy="1645920"/>
          </a:xfrm>
          <a:prstGeom prst="rect">
            <a:avLst/>
          </a:prstGeom>
          <a:solidFill>
            <a:srgbClr val="0A0E1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7830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7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4.4%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 Rate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BLS · Feb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51760" y="1645920"/>
            <a:ext cx="1920240" cy="1645920"/>
          </a:xfrm>
          <a:prstGeom prst="rect">
            <a:avLst/>
          </a:prstGeom>
          <a:solidFill>
            <a:srgbClr val="0A0E1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51760" y="17830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-92K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51760" y="2423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Lost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51760" y="2743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Nonfarm Payrolls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1645920"/>
            <a:ext cx="1920240" cy="1645920"/>
          </a:xfrm>
          <a:prstGeom prst="rect">
            <a:avLst/>
          </a:prstGeom>
          <a:solidFill>
            <a:srgbClr val="0A0E1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7830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8A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7.9%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754880" y="2423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Underemployment (U-6)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2743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measure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0" y="1645920"/>
            <a:ext cx="1920240" cy="1645920"/>
          </a:xfrm>
          <a:prstGeom prst="rect">
            <a:avLst/>
          </a:prstGeom>
          <a:solidFill>
            <a:srgbClr val="0A0E1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0" y="17830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25.7 wks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58000" y="2423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Unemployment Duration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0" y="2743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since Dec 2021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37490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Economists describe today's labor market as 'no-hire, no-fire' — companies are reluctant to add workers but unwilling to let go of the ones they have.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AI SKILLS DIVIDE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Workforces, One Economy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840480" cy="237744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384048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37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AI-SKILLED WORKERS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97%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822960" y="2743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Rate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063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Salary: $160,000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337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 wage premium over non-AI peers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554480"/>
            <a:ext cx="3840480" cy="237744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554480"/>
            <a:ext cx="3840480" cy="54864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737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NON-AI WORKERS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0574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F47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89%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5029200" y="2743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Rate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3063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Salary: $67,000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3337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 of skills outdated by 2030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4480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PwC Global AI Jobs Barometer 2025, Ravio 2026 Compensation Report, WEF Future of Jobs 2025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SALARY COMPARISON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AI-Skilled vs Non-AI Workers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371600"/>
          <a:ext cx="8229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4709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= Projected | Values in $K USD | Source: Rise, PwC, BLS, WEF trend data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5-YEAR PAY GAP PROJECTION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Gap That Becomes a Chasm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2468880" cy="146304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645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$48K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premium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1554480"/>
            <a:ext cx="2468880" cy="146304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1645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0" y="19202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$93K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474720" y="2468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139% premium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2468880" cy="146304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1645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2030*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19202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7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$155K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217920" y="2468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221% premium</a:t>
            </a:r>
            <a:endParaRPr lang="en-US" sz="12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457200" y="3200400"/>
          <a:ext cx="822960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BETS FOR STABLE JOB GROWTH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Industries With Structural Tailwinds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63040"/>
          <a:ext cx="8229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4709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BLS Employment Projections 2024–2034, DOE USEER 2025, WEF Future of Jobs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WHO'S GETTING PAID THE MOST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Highest-Paying Roles in 2026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645920"/>
                <a:gridCol w="1097280"/>
                <a:gridCol w="1371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Sr. ML Engineer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$212,928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95/100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Architect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$196,000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92/100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Solutions Architect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88/100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AI/ML Engineer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$189,500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97/100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Cybersecurity Director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90/100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NLP Specialist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88/100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Sr. Prompt Engineer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85/100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SRE / DevOps Lead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$166,500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82/100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4572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10 highest-paying roles require AI-specific skills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ADOPTION IN THE WORKFORCE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Market Is Moving — Are You?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28016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754880" y="1371600"/>
            <a:ext cx="3840480" cy="685800"/>
          </a:xfrm>
          <a:prstGeom prst="rect">
            <a:avLst/>
          </a:prstGeom>
          <a:solidFill>
            <a:srgbClr val="0A0E1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937760" y="141732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88%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035040" y="14173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hiring growth YoY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2194560"/>
            <a:ext cx="3840480" cy="685800"/>
          </a:xfrm>
          <a:prstGeom prst="rect">
            <a:avLst/>
          </a:prstGeom>
          <a:solidFill>
            <a:srgbClr val="0A0E1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937760" y="224028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47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73%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035040" y="22402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entry-level hiring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3017520"/>
            <a:ext cx="3840480" cy="685800"/>
          </a:xfrm>
          <a:prstGeom prst="rect">
            <a:avLst/>
          </a:prstGeom>
          <a:solidFill>
            <a:srgbClr val="0A0E1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937760" y="306324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8A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77%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035040" y="30632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plan to upskill for AI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754880" y="3840480"/>
            <a:ext cx="3840480" cy="685800"/>
          </a:xfrm>
          <a:prstGeom prst="rect">
            <a:avLst/>
          </a:prstGeom>
          <a:solidFill>
            <a:srgbClr val="0A0E1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937760" y="38862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66%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6035040" y="38862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skill change in AI roles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STRATEGIC RECOMMENDATIONS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To Do With This Data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8046720" cy="100584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64008" cy="100584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5361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Job Seekers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AI literacy immediately — even prompt engineering carries measurable premiums. Target healthcare, cybersecurity, and clean energy for recession-proof paths. Document AI project outcomes over credentials.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8046720" cy="100584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606040"/>
            <a:ext cx="64008" cy="1005840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6791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8A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Employers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971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for AI talent premiums ($160K+ median). Invest in workforce upskilling — 77% of peers already plan to. Address the entry-level pipeline crisis (hiring down 73%).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8046720" cy="100584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749040"/>
            <a:ext cx="64008" cy="100584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8221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Business Leaders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114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AI as a growth strategy, not efficiency play. The most AI-exposed industries see 3x revenue-per-employee growth. Build AI capability across all functions, not just engineering.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AI divide isn't coming.</a:t>
            </a:r>
            <a:endParaRPr lang="en-US" sz="4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It's here.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 which side you're building 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566160"/>
            <a:ext cx="3657600" cy="274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74904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Davon Ransom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Founder, S.T.A.R. Culture, LLC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Columbus, OH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Data Analytics Professional Certificate Candidate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8463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BLS Employment Situation (Feb 2026) · PwC Global AI Jobs Barometer · Ravio 2026 · WEF Future of Jobs · Dice · DOE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Workforce Intelligence — March 2026</dc:title>
  <dc:subject>PptxGenJS Presentation</dc:subject>
  <dc:creator>Davon Ransom</dc:creator>
  <cp:lastModifiedBy>Davon Ransom</cp:lastModifiedBy>
  <cp:revision>1</cp:revision>
  <dcterms:created xsi:type="dcterms:W3CDTF">2026-03-16T22:55:24Z</dcterms:created>
  <dcterms:modified xsi:type="dcterms:W3CDTF">2026-03-16T22:55:24Z</dcterms:modified>
</cp:coreProperties>
</file>